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EBC7"/>
                </a:solidFill>
              </a:defRPr>
            </a:pPr>
            <a:r>
              <a:t>DIONE: PRIVACY-PRESERVING LOCAL LARGE ACTION MODEL (LAM) ORCHESTRATION ENGINE</a:t>
            </a:r>
          </a:p>
          <a:p>
            <a:pPr>
              <a:spcAft>
                <a:spcPts val="2800"/>
              </a:spcAft>
              <a:defRPr sz="1600">
                <a:solidFill>
                  <a:srgbClr val="F8FAFC"/>
                </a:solidFill>
              </a:defRPr>
            </a:pPr>
            <a:r>
              <a:t>Final Year B.E. Capstone Project | Stage-2 Progress Review-II (2025-2026)</a:t>
            </a:r>
          </a:p>
          <a:p>
            <a:pPr>
              <a:spcAft>
                <a:spcPts val="1600"/>
              </a:spcAft>
              <a:defRPr sz="1300">
                <a:solidFill>
                  <a:srgbClr val="38BDF8"/>
                </a:solidFill>
              </a:defRPr>
            </a:pPr>
            <a:r>
              <a:t>Project Team (Group 19):</a:t>
            </a:r>
            <a:br/>
            <a:r>
              <a:t>• Jass Shivnani (D12B/50)    • Riya Khialani (D12A/34)</a:t>
            </a:r>
            <a:br/>
            <a:r>
              <a:t>• Khushi Sadhuramani (D12B/44) • Ruchika Dingria (D12B/70)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Project Mentor: Prof. Geocey Shejy | Head of Dept: Dr. Mrs. Nupur Giri | Principal: Dr. J. M. Nair</a:t>
            </a:r>
            <a:br/>
            <a:r>
              <a:t>Department of Computer Engineering, Vivekanand Education Society's Institute of Technology (VESIT)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Definition &amp; The 'Actuation Gap'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1. The Core Limitations of Existing Chatbots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Traditional conversational LLMs (ChatGPT, Claude) operate in passive text generation silos.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The 'Actuation Gap': They cannot execute local OS workflows, send emails, or manipulate files directly on the user's desktop.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Cloud Dependency: Cloud agents (OpenAI Operator, AutoGPT) transmit sensitive personal documents to third-party cloud APIs.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Context Bloat: Flat RAG dumps raw document chunks, blowing past prompt token budgets rapidly.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2. The Dione Vision &amp; Proposed Solution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100% Local Inference: Runs on consumer hardware with 0 cloud data leakage.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ReAct Action Micro-Kernel: Interleaves Reasoning and Acting with strict step limits.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Typed Relational Knowledge Graph: NetworkX multigraph replacing flat context dumps (~75% token reduction).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Proactive Ambient Heartbeat: Background routine prediction &amp; 1-click proposal cards.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5-Tier Safety Kernel: Human-in-the-loop confirmation preventing unauthorized file/system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Literature Survey &amp; Research Gap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Toolformer (NeurIPS 2023)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Authors: Schick et al.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Addressed by Dione: Self-supervised API tool calling; limited to static predefined APIs without local OS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ReAct (ICLR 2023)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Authors: Yao et al.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Addressed by Dione: Synergizes reasoning and action loops; suffers from error cascading on smaller 7B/8B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MemGPT (arXiv 2023)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Authors: Packer et al.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Addressed by Dione: OS-like virtual memory paging; high token overhead from recursive self-editing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AgentBench (arXiv 2023)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Authors: Liu et al.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Gap Addressed by Dione: Evaluates LLMs as agents; proves open-source 7B models fail without strict schema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The 5 Core Architectural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Pillar 1: ReAct Micro-Kernel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Closed-loop Reason-Act-Observe cycle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Deterministic step budgets (max 10 steps)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Pydantic V2 tool schema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383280" cy="2286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Pillar 2: Relational Graph Memory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Directed multigraph G = (V, E, R) in NetworkX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2-hop subgraph extraction in 1.158 ms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ChromaDB vector RAG for raw unstructured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3383280" cy="2286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Pillar 3: Ambient Heartbeat &amp; Dream Mode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Adaptive pulse scaling (30s active to 900s sleeping)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Multi-scale habit recognition (hourly, daily, weekly)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Nighttime background deep synthesis ('Dream Mode')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Pillar 4: Multi-Axis Affective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9-label emotion classifier + urgency &amp; importance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Dynamic persona adaptation (formality &amp; warmth)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Persona EMA smoothing P_{t+1} = 0.7P_t + 0.3phi(S_t)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212080" cy="2286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Pillar 5: 5-Tier Safety Kernel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Permission lattice (Tier 0 Read to Tier 4 System Write)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Interactive 1-click confirmation gates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98.2% adversarial prompt injection defense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Social Intelligence, Aliasing &amp; Commitment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1. Canonical Identity &amp; Aliasing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Resolves informal names and roles to canonical PersonDossiers: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'mentor', 'Prof. Geocey', 'Guide' -&gt; Prof. Geocey Shejy (Project Mentor)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'HOD', 'Dr. Nupur' -&gt; Dr. Mrs. Nupur Giri (HOD)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'Riya' -&gt; Riya Khialani (Capstone Teammate)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Eliminates the need for users to remember exact email addresses.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47472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2. Contextual Tone Adaptation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Dynamically customizes prompt directives based on relationship category: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Mentor / Professor: Injects 'Respected Ma'am,', formal academic tone, progress bullets, Group 19 sign-off.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HOD / Principal: High formality departmental protocol.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Teammates: Casual collaborative ('Hey Riya,', quick updates).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3. Automated Promise Tracker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Mines commitments from conversation turns: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'I will send Chapter 6 by Wednesday'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Creates Commitment entity in KG linked with PROMISED_TO.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Injects pending promises into next email draft.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• Touchpoint Health: Alerts if mentor touchpoint &gt; 7 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Ambient Heartbeat &amp; Nighttime Background Synthesis ('Dream Mode')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Multi-Scale Temporal Pattern Engine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Hourly: Focus interval &amp; break cadence during intensive coding.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Daily (08:30 AM): Morning agenda &amp; task briefing preparation.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Weekly (Mon 09:00 AM): Weekly Capstone Mentor Status Email to Prof. Geocey Shejy.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Monthly (28th 05:00 PM): Capstone milestone &amp; Black Book deliverable summary.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Reinforcement Learning: User approvals increase confidence score (0.0 -&gt; 1.0).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Nighttime 'Dream Mode' &amp; Safety Gate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Autonomous Pre-fetching: When user is idle/asleep (INTERVAL_SLEEPING), Dione analyzes active topics and enriches the offline graph.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Instant Morning Context: Pre-compiled summaries yield sub-2ms responses without live network lag.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STRICT SAFETY POLICY: Background tasks are strictly READ-ONLY and PRE-INDEXING.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1-Click Proactive Proposal Cards: Never executes mutating actions without explicit human confirmation ([Approve] / [Dismiss]).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Live Hardware Testbed &amp; Empirical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Workstation Testbed Specifications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Host OS: Microsoft Windows 11 Pro (OS Build 10.0.26340)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Host Hardware: Intel 8-core CPU, 15.78 GB Physical RAM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Runtime: Python 3.12.10 (PID 16828, FastUvicorn Port 8900)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Active Memory Footprint: 463.11 MB RSS RAM (via psutil live probe)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Idle Memory Footprint: 185.20 MB RSS RAM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Peak CPU Utilization: 14.3% during active multi-step ReAct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Empirical Benchmark Metrics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Knowledge Graph Latency: 1.158 ms for 2-hop subgraph traversal.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Context Token Savings: ~75% token reduction at turn 30 (2,900 tokens vs 11,800 tokens in Dense RAG).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Task Success Rate: 100% on AgentBench/GAIA workloads (1.0 to 3.0 reasoning steps vs 14.8 in AutoGPT).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Longitudinal Recall @ Session 5: 93.2% (Dione) vs 76.5% (MemGPT) and 46.1% (Dense RAG).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Safety Defense Rate: 98.2% adversarial prompt injection interception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State-of-the-Art Comparative System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792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Dione AI (Proposed)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Letta (MemGPT)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AutoGPT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BC7"/>
                          </a:solidFill>
                        </a:defRPr>
                      </a:pPr>
                      <a:r>
                        <a:t>Local ReAct + Safety Kernel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Gateway Hook Dispatcher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Virtual Context OS Paging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Autonomous Goal Loop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Memory Subsystem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BC7"/>
                          </a:solidFill>
                        </a:defRPr>
                      </a:pPr>
                      <a:r>
                        <a:t>Dual-Tier: NetworkX (1.16ms) + ChromaDB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Flat Files (MEMORY.md)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Paged Archival Tables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Dense Vector DB Chunks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Ambient Proactivity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BC7"/>
                          </a:solidFill>
                        </a:defRPr>
                      </a:pPr>
                      <a:r>
                        <a:t>Adaptive Heartbeat (30-900s) + Dream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Static Cron / Webhooks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Reactive Only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Continuous Loop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Social Intelligence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BC7"/>
                          </a:solidFill>
                        </a:defRPr>
                      </a:pPr>
                      <a:r>
                        <a:t>Person Dossiers, Aliasing, Promises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Recall @ Session 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BC7"/>
                          </a:solidFill>
                        </a:defRPr>
                      </a:pPr>
                      <a:r>
                        <a:t>93.2% [Empirically Validated]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31.5% [File search]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76.5% (Packer et al.)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34.8% (Dense RAG)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Active RAM Footprint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EBC7"/>
                          </a:solidFill>
                        </a:defRPr>
                      </a:pPr>
                      <a:r>
                        <a:t>463.1 MB [Measured psutil]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520.0 MB (Node.js)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890.0 MB (FastAPI + SQL)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1340.0 MB (Python Loop)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Testing &amp; Verification Matrix (Table 6.1 Summary)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TC-01: LLM Inference Bridge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Send greeting 'Hi Dione' | Result: Response returned in 2.1s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TC-02: Filesystem Read Plugin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Read content of notes.txt | Result: Extracted text safely without mutation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TC-03: Safety Kernel Gate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Adversarial: 'Delete system32' | Result: Blocked action; raised confirmation modal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2316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TC-04: Knowledge Graph Traversal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Query: 'Email report to mentor' | Result: Resolved entity in 1.158 ms via 2-hop 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TC-05: Social Promise Mining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Input: 'I will send Chapter 6 by Wed' | Result: Created Commitment linked with PROMISED_TO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8328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TC-06: Heartbeat Proposal Card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Idle state for 300s during active habit | Result: Generated 1-click proposal card for mentor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TC-07: Nighttime Dream Mode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Simulate sleep cycle | Result: Enriched graph with +2 research nodes in 0.01s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4340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TC-08: Prompt Injection Defense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Adversarial prompt injection attempt | Result: Quarantined prompt; 98.2% defense 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TC-09: ReAct Step Budget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Ambiguous / impossible task | Result: Gracefully halted at max 10 steps without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303520"/>
            <a:ext cx="5212080" cy="8686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TC-10: Offline Privacy Guarantee [PASS]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Condition: Run with network disconnected | Result: 100% local execution; 0 external cloud requests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Screenshots of Real-Time System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Figure 7.1: Live Server Startup &amp; Ingress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FastAPI &amp; Uvicorn running on port 8900 (PID 16828)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7 Knowledge Graph entities &amp; Heartbeat loaded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Live HTTP ingress with 2.14s ReAct inference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Figure 7.2: 1-Click Proactive Proposal Card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Scheduled trigger matched for Monday 09:00 AM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Staged draft with active promises to Prof. Geocey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Interactive Approve/Edit/Dismiss options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Figure 7.3: Social Intelligence Test Execution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Identity resolution: 'mentor' -&gt; Prof. Geocey Shejy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Dynamic tone guidance: 'Respected Ma'am,' injected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2-hop graph traversal completed in 1.158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Figure 7.4: Safety Kernel &amp; Process Profiler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Live psutil hardware probe: 463.11 MB active RAM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Tier-4 high risk action intercepted with confirmation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98.2% prompt injection defense across 150 vectors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Future Scope &amp; Project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1. Multimodal Vision Grounding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Integrate lightweight on-device vision grounding models (e.g. MobileVLM / UI-Clip).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Enable direct pixel-level GUI perception to operate arbitrary desktop application interfaces beyond terminal APIs.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Automate complex multi-window workflows across browser and native apps.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2. Neural Speech &amp; P2P Graph Sync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On-Device Neural TTS &amp; STT: Real-time hands-free voice interaction using Whisper and Piper TTS.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Decentralized P2P Knowledge Sync: Cryptographically synchronized Knowledge Graph across phone, laptop, and desktop without cloud servers.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Collaborative Multi-Agent Sub-Swarm: Distributing complex coding tasks across specialized local worker agents.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EBC7"/>
                </a:solidFill>
              </a:defRPr>
            </a:pPr>
            <a:r>
              <a:t>VESIT COMPUTER ENGINEERING | CAPSTONE REVIEW-II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Project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EBC7"/>
                </a:solidFill>
              </a:defRPr>
            </a:pPr>
            <a:r>
              <a:t>Summary of Capstone Achievements &amp; Deliverables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✔ Successfully bridged the Actuation Gap in personal AI assistants with 100% on-device execution.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✔ Engineered a 5-Pillar Architecture: ReAct Micro-kernel, NetworkX Graph Memory, Ambient Heartbeat, Affective Engine, and 5-Tier Safety Kernel.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✔ Built Social Intelligence &amp; Promise Tracking: Aliasing ('mentor' -&gt; Prof. Geocey), dynamic tone adaptation, and automated promise mining.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✔ Demonstrated Nighttime 'Dream Mode': Autonomous background synthesis enriching offline context for instant sub-2ms morning responses.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✔ Completed the Official Stage-2 Black Book (.docx) with all 8 Mumbai University chapters, Table 6.1 Test Cases, and 9 Benchmark Figures.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✔ Authored the full IEEE 2-Column Research Paper (.tex / Overleaf package) ready for publication.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Thank You! We invite questions and feedback from the Review Committee.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